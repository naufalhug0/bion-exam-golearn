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64" r:id="rId8"/>
    <p:sldId id="266" r:id="rId9"/>
    <p:sldId id="267" r:id="rId10"/>
    <p:sldId id="268" r:id="rId11"/>
    <p:sldId id="269" r:id="rId12"/>
    <p:sldId id="270" r:id="rId13"/>
    <p:sldId id="265" r:id="rId14"/>
    <p:sldId id="263" r:id="rId15"/>
  </p:sldIdLst>
  <p:sldSz cx="24384000" cy="13716000"/>
  <p:notesSz cx="6858000" cy="9144000"/>
  <p:embeddedFontLst>
    <p:embeddedFont>
      <p:font typeface="OCRB" panose="020B0609020202020204" pitchFamily="49" charset="0"/>
      <p:regular r:id="rId17"/>
    </p:embeddedFont>
    <p:embeddedFont>
      <p:font typeface="Open Sans ExtraBold" panose="020B0906030804020204" pitchFamily="34" charset="0"/>
      <p:bold r:id="rId18"/>
      <p:boldItalic r:id="rId19"/>
    </p:embeddedFont>
    <p:embeddedFont>
      <p:font typeface="Open Sans Light" panose="020B0306030504020204" pitchFamily="34" charset="0"/>
      <p:regular r:id="rId20"/>
    </p:embeddedFont>
    <p:embeddedFont>
      <p:font typeface="Open Sans Semibold" panose="020B0706030804020204" pitchFamily="34" charset="0"/>
      <p:regular r:id="rId21"/>
      <p:bold r:id="rId22"/>
      <p:boldItalic r:id="rId2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06"/>
    <p:restoredTop sz="96197"/>
  </p:normalViewPr>
  <p:slideViewPr>
    <p:cSldViewPr snapToGrid="0" snapToObjects="1">
      <p:cViewPr varScale="1">
        <p:scale>
          <a:sx n="28" d="100"/>
          <a:sy n="28" d="100"/>
        </p:scale>
        <p:origin x="156" y="113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a Agustin Putri A" userId="0fa46097-4fe9-44f7-be0f-26cd738ef44f" providerId="ADAL" clId="{935F75D6-6CE1-4A49-A638-EB67BD4C65D6}"/>
    <pc:docChg chg="custSel modSld">
      <pc:chgData name="Helena Agustin Putri A" userId="0fa46097-4fe9-44f7-be0f-26cd738ef44f" providerId="ADAL" clId="{935F75D6-6CE1-4A49-A638-EB67BD4C65D6}" dt="2025-10-15T03:26:04.869" v="9" actId="478"/>
      <pc:docMkLst>
        <pc:docMk/>
      </pc:docMkLst>
      <pc:sldChg chg="delSp mod">
        <pc:chgData name="Helena Agustin Putri A" userId="0fa46097-4fe9-44f7-be0f-26cd738ef44f" providerId="ADAL" clId="{935F75D6-6CE1-4A49-A638-EB67BD4C65D6}" dt="2025-10-15T03:25:52.662" v="0" actId="478"/>
        <pc:sldMkLst>
          <pc:docMk/>
          <pc:sldMk cId="1894448752" sldId="257"/>
        </pc:sldMkLst>
        <pc:spChg chg="del">
          <ac:chgData name="Helena Agustin Putri A" userId="0fa46097-4fe9-44f7-be0f-26cd738ef44f" providerId="ADAL" clId="{935F75D6-6CE1-4A49-A638-EB67BD4C65D6}" dt="2025-10-15T03:25:52.662" v="0" actId="478"/>
          <ac:spMkLst>
            <pc:docMk/>
            <pc:sldMk cId="1894448752" sldId="257"/>
            <ac:spMk id="3" creationId="{57073A5C-9AA7-4EC4-BED1-6F983E42762B}"/>
          </ac:spMkLst>
        </pc:spChg>
      </pc:sldChg>
      <pc:sldChg chg="delSp mod">
        <pc:chgData name="Helena Agustin Putri A" userId="0fa46097-4fe9-44f7-be0f-26cd738ef44f" providerId="ADAL" clId="{935F75D6-6CE1-4A49-A638-EB67BD4C65D6}" dt="2025-10-15T03:25:54.501" v="1" actId="478"/>
        <pc:sldMkLst>
          <pc:docMk/>
          <pc:sldMk cId="2244666647" sldId="258"/>
        </pc:sldMkLst>
        <pc:spChg chg="del">
          <ac:chgData name="Helena Agustin Putri A" userId="0fa46097-4fe9-44f7-be0f-26cd738ef44f" providerId="ADAL" clId="{935F75D6-6CE1-4A49-A638-EB67BD4C65D6}" dt="2025-10-15T03:25:54.501" v="1" actId="478"/>
          <ac:spMkLst>
            <pc:docMk/>
            <pc:sldMk cId="2244666647" sldId="258"/>
            <ac:spMk id="3" creationId="{6E4106F5-A27E-4238-86D2-4A72F519F1A8}"/>
          </ac:spMkLst>
        </pc:spChg>
      </pc:sldChg>
      <pc:sldChg chg="delSp mod">
        <pc:chgData name="Helena Agustin Putri A" userId="0fa46097-4fe9-44f7-be0f-26cd738ef44f" providerId="ADAL" clId="{935F75D6-6CE1-4A49-A638-EB67BD4C65D6}" dt="2025-10-15T03:26:04.869" v="9" actId="478"/>
        <pc:sldMkLst>
          <pc:docMk/>
          <pc:sldMk cId="1996786956" sldId="263"/>
        </pc:sldMkLst>
        <pc:spChg chg="del">
          <ac:chgData name="Helena Agustin Putri A" userId="0fa46097-4fe9-44f7-be0f-26cd738ef44f" providerId="ADAL" clId="{935F75D6-6CE1-4A49-A638-EB67BD4C65D6}" dt="2025-10-15T03:26:04.869" v="9" actId="478"/>
          <ac:spMkLst>
            <pc:docMk/>
            <pc:sldMk cId="1996786956" sldId="263"/>
            <ac:spMk id="3" creationId="{ED30F80E-2DF1-4CD2-827A-68A8189CE035}"/>
          </ac:spMkLst>
        </pc:spChg>
      </pc:sldChg>
      <pc:sldChg chg="delSp mod">
        <pc:chgData name="Helena Agustin Putri A" userId="0fa46097-4fe9-44f7-be0f-26cd738ef44f" providerId="ADAL" clId="{935F75D6-6CE1-4A49-A638-EB67BD4C65D6}" dt="2025-10-15T03:25:55.548" v="2" actId="478"/>
        <pc:sldMkLst>
          <pc:docMk/>
          <pc:sldMk cId="2584077620" sldId="264"/>
        </pc:sldMkLst>
        <pc:spChg chg="del">
          <ac:chgData name="Helena Agustin Putri A" userId="0fa46097-4fe9-44f7-be0f-26cd738ef44f" providerId="ADAL" clId="{935F75D6-6CE1-4A49-A638-EB67BD4C65D6}" dt="2025-10-15T03:25:55.548" v="2" actId="478"/>
          <ac:spMkLst>
            <pc:docMk/>
            <pc:sldMk cId="2584077620" sldId="264"/>
            <ac:spMk id="3" creationId="{E5ED3A97-CAC4-4282-8666-11A6977BFCAD}"/>
          </ac:spMkLst>
        </pc:spChg>
      </pc:sldChg>
      <pc:sldChg chg="delSp mod">
        <pc:chgData name="Helena Agustin Putri A" userId="0fa46097-4fe9-44f7-be0f-26cd738ef44f" providerId="ADAL" clId="{935F75D6-6CE1-4A49-A638-EB67BD4C65D6}" dt="2025-10-15T03:26:03.260" v="8" actId="478"/>
        <pc:sldMkLst>
          <pc:docMk/>
          <pc:sldMk cId="431365536" sldId="265"/>
        </pc:sldMkLst>
        <pc:spChg chg="del">
          <ac:chgData name="Helena Agustin Putri A" userId="0fa46097-4fe9-44f7-be0f-26cd738ef44f" providerId="ADAL" clId="{935F75D6-6CE1-4A49-A638-EB67BD4C65D6}" dt="2025-10-15T03:26:03.260" v="8" actId="478"/>
          <ac:spMkLst>
            <pc:docMk/>
            <pc:sldMk cId="431365536" sldId="265"/>
            <ac:spMk id="3" creationId="{DFC7EECA-3D66-4E0D-AA9A-CBC458B1F520}"/>
          </ac:spMkLst>
        </pc:spChg>
      </pc:sldChg>
      <pc:sldChg chg="delSp mod">
        <pc:chgData name="Helena Agustin Putri A" userId="0fa46097-4fe9-44f7-be0f-26cd738ef44f" providerId="ADAL" clId="{935F75D6-6CE1-4A49-A638-EB67BD4C65D6}" dt="2025-10-15T03:25:56.549" v="3" actId="478"/>
        <pc:sldMkLst>
          <pc:docMk/>
          <pc:sldMk cId="2129828484" sldId="266"/>
        </pc:sldMkLst>
        <pc:spChg chg="del">
          <ac:chgData name="Helena Agustin Putri A" userId="0fa46097-4fe9-44f7-be0f-26cd738ef44f" providerId="ADAL" clId="{935F75D6-6CE1-4A49-A638-EB67BD4C65D6}" dt="2025-10-15T03:25:56.549" v="3" actId="478"/>
          <ac:spMkLst>
            <pc:docMk/>
            <pc:sldMk cId="2129828484" sldId="266"/>
            <ac:spMk id="3" creationId="{E5ED3A97-CAC4-4282-8666-11A6977BFCAD}"/>
          </ac:spMkLst>
        </pc:spChg>
      </pc:sldChg>
      <pc:sldChg chg="delSp mod">
        <pc:chgData name="Helena Agustin Putri A" userId="0fa46097-4fe9-44f7-be0f-26cd738ef44f" providerId="ADAL" clId="{935F75D6-6CE1-4A49-A638-EB67BD4C65D6}" dt="2025-10-15T03:25:58.763" v="4" actId="478"/>
        <pc:sldMkLst>
          <pc:docMk/>
          <pc:sldMk cId="717834011" sldId="267"/>
        </pc:sldMkLst>
        <pc:spChg chg="del">
          <ac:chgData name="Helena Agustin Putri A" userId="0fa46097-4fe9-44f7-be0f-26cd738ef44f" providerId="ADAL" clId="{935F75D6-6CE1-4A49-A638-EB67BD4C65D6}" dt="2025-10-15T03:25:58.763" v="4" actId="478"/>
          <ac:spMkLst>
            <pc:docMk/>
            <pc:sldMk cId="717834011" sldId="267"/>
            <ac:spMk id="3" creationId="{E5ED3A97-CAC4-4282-8666-11A6977BFCAD}"/>
          </ac:spMkLst>
        </pc:spChg>
      </pc:sldChg>
      <pc:sldChg chg="delSp mod">
        <pc:chgData name="Helena Agustin Putri A" userId="0fa46097-4fe9-44f7-be0f-26cd738ef44f" providerId="ADAL" clId="{935F75D6-6CE1-4A49-A638-EB67BD4C65D6}" dt="2025-10-15T03:26:00.396" v="5" actId="478"/>
        <pc:sldMkLst>
          <pc:docMk/>
          <pc:sldMk cId="3855416400" sldId="268"/>
        </pc:sldMkLst>
        <pc:spChg chg="del">
          <ac:chgData name="Helena Agustin Putri A" userId="0fa46097-4fe9-44f7-be0f-26cd738ef44f" providerId="ADAL" clId="{935F75D6-6CE1-4A49-A638-EB67BD4C65D6}" dt="2025-10-15T03:26:00.396" v="5" actId="478"/>
          <ac:spMkLst>
            <pc:docMk/>
            <pc:sldMk cId="3855416400" sldId="268"/>
            <ac:spMk id="3" creationId="{E5ED3A97-CAC4-4282-8666-11A6977BFCAD}"/>
          </ac:spMkLst>
        </pc:spChg>
      </pc:sldChg>
      <pc:sldChg chg="delSp mod">
        <pc:chgData name="Helena Agustin Putri A" userId="0fa46097-4fe9-44f7-be0f-26cd738ef44f" providerId="ADAL" clId="{935F75D6-6CE1-4A49-A638-EB67BD4C65D6}" dt="2025-10-15T03:26:01.349" v="6" actId="478"/>
        <pc:sldMkLst>
          <pc:docMk/>
          <pc:sldMk cId="1923755382" sldId="269"/>
        </pc:sldMkLst>
        <pc:spChg chg="del">
          <ac:chgData name="Helena Agustin Putri A" userId="0fa46097-4fe9-44f7-be0f-26cd738ef44f" providerId="ADAL" clId="{935F75D6-6CE1-4A49-A638-EB67BD4C65D6}" dt="2025-10-15T03:26:01.349" v="6" actId="478"/>
          <ac:spMkLst>
            <pc:docMk/>
            <pc:sldMk cId="1923755382" sldId="269"/>
            <ac:spMk id="3" creationId="{E5ED3A97-CAC4-4282-8666-11A6977BFCAD}"/>
          </ac:spMkLst>
        </pc:spChg>
      </pc:sldChg>
      <pc:sldChg chg="delSp mod">
        <pc:chgData name="Helena Agustin Putri A" userId="0fa46097-4fe9-44f7-be0f-26cd738ef44f" providerId="ADAL" clId="{935F75D6-6CE1-4A49-A638-EB67BD4C65D6}" dt="2025-10-15T03:26:02.247" v="7" actId="478"/>
        <pc:sldMkLst>
          <pc:docMk/>
          <pc:sldMk cId="3447787679" sldId="270"/>
        </pc:sldMkLst>
        <pc:spChg chg="del">
          <ac:chgData name="Helena Agustin Putri A" userId="0fa46097-4fe9-44f7-be0f-26cd738ef44f" providerId="ADAL" clId="{935F75D6-6CE1-4A49-A638-EB67BD4C65D6}" dt="2025-10-15T03:26:02.247" v="7" actId="478"/>
          <ac:spMkLst>
            <pc:docMk/>
            <pc:sldMk cId="3447787679" sldId="270"/>
            <ac:spMk id="3" creationId="{E5ED3A97-CAC4-4282-8666-11A6977BFC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4401F2-3223-49FC-9077-273CF87A4FA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Deployment and maintenance of web and mobile applications</a:t>
            </a:r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9C0906-B916-43C9-BB81-86352047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SPECIALIZED PLATFORM DEVELOPMENT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7A518-FF1F-4094-85FC-FD224227D3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Pualam Dipa Nusantara, </a:t>
            </a:r>
            <a:r>
              <a:rPr lang="en-US" dirty="0" err="1"/>
              <a:t>S.Kom</a:t>
            </a:r>
            <a:r>
              <a:rPr lang="en-US" dirty="0"/>
              <a:t>, </a:t>
            </a:r>
            <a:r>
              <a:rPr lang="en-US"/>
              <a:t>M.Kom.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708329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76E8B-AC77-4346-85C2-080B000B6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08056-27AB-490E-8D52-6DFE315128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17034493" cy="4522264"/>
          </a:xfrm>
        </p:spPr>
        <p:txBody>
          <a:bodyPr/>
          <a:lstStyle/>
          <a:p>
            <a:r>
              <a:rPr lang="en-US" b="1" dirty="0"/>
              <a:t>LO 4 :  Evaluate and address security, performance, and regulatory challenges in the development and deployment of specialized platforms, applying best practices for risk mitigation.</a:t>
            </a:r>
          </a:p>
        </p:txBody>
      </p:sp>
    </p:spTree>
    <p:extLst>
      <p:ext uri="{BB962C8B-B14F-4D97-AF65-F5344CB8AC3E}">
        <p14:creationId xmlns:p14="http://schemas.microsoft.com/office/powerpoint/2010/main" val="189444875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5570-A17E-45A8-9395-6BDD1FCE8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66FA7-8F17-475D-A47F-EB76B1204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17034493" cy="7137984"/>
          </a:xfrm>
        </p:spPr>
        <p:txBody>
          <a:bodyPr>
            <a:normAutofit/>
          </a:bodyPr>
          <a:lstStyle/>
          <a:p>
            <a:r>
              <a:rPr lang="en-US" b="1" dirty="0"/>
              <a:t>Introduction</a:t>
            </a:r>
          </a:p>
          <a:p>
            <a:r>
              <a:rPr lang="en-US" b="1" dirty="0"/>
              <a:t>CI/CD for Web and Mobile (GitHub Actions, </a:t>
            </a:r>
            <a:r>
              <a:rPr lang="en-US" b="1" dirty="0" err="1"/>
              <a:t>CircleCI</a:t>
            </a:r>
            <a:r>
              <a:rPr lang="en-US" b="1" dirty="0"/>
              <a:t>, </a:t>
            </a:r>
            <a:r>
              <a:rPr lang="en-US" b="1" dirty="0" err="1"/>
              <a:t>Bitrise</a:t>
            </a:r>
            <a:r>
              <a:rPr lang="en-US" b="1" dirty="0"/>
              <a:t>)</a:t>
            </a:r>
          </a:p>
          <a:p>
            <a:r>
              <a:rPr lang="en-US" b="1" dirty="0"/>
              <a:t>Build Optimization and Packaging</a:t>
            </a:r>
          </a:p>
          <a:p>
            <a:r>
              <a:rPr lang="en-US" b="1" dirty="0"/>
              <a:t>App Store Deployment (iOS &amp; Android Guidelines)</a:t>
            </a:r>
          </a:p>
          <a:p>
            <a:r>
              <a:rPr lang="en-US" b="1" dirty="0"/>
              <a:t>Web App Deployment (</a:t>
            </a:r>
            <a:r>
              <a:rPr lang="en-US" b="1" dirty="0" err="1"/>
              <a:t>Vercel</a:t>
            </a:r>
            <a:r>
              <a:rPr lang="en-US" b="1" dirty="0"/>
              <a:t>, Netlify, Heroku)</a:t>
            </a:r>
          </a:p>
          <a:p>
            <a:r>
              <a:rPr lang="en-US" b="1" dirty="0"/>
              <a:t>Maintenance, Monitoring, and Analytics</a:t>
            </a:r>
          </a:p>
          <a:p>
            <a:r>
              <a:rPr lang="en-US" b="1" dirty="0"/>
              <a:t>Summary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446666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C857-0232-4370-A116-49AF8C9E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F03F0-D7A8-439E-9F99-474A376EF1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17034493" cy="49434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Topics this week:</a:t>
            </a:r>
          </a:p>
          <a:p>
            <a:r>
              <a:rPr lang="en-US" dirty="0"/>
              <a:t>CI/CD workflows</a:t>
            </a:r>
          </a:p>
          <a:p>
            <a:r>
              <a:rPr lang="en-US" dirty="0"/>
              <a:t>Build optimization</a:t>
            </a:r>
          </a:p>
          <a:p>
            <a:r>
              <a:rPr lang="en-US" dirty="0"/>
              <a:t>Deployment (App/Web)</a:t>
            </a:r>
          </a:p>
          <a:p>
            <a:r>
              <a:rPr lang="en-US" dirty="0"/>
              <a:t>Maintenance &amp; monitoring tools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8407762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C857-0232-4370-A116-49AF8C9E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Ci/cd for web and mobile (</a:t>
            </a:r>
            <a:r>
              <a:rPr lang="en-US" dirty="0" err="1"/>
              <a:t>github</a:t>
            </a:r>
            <a:r>
              <a:rPr lang="en-US" dirty="0"/>
              <a:t> actions, </a:t>
            </a:r>
            <a:r>
              <a:rPr lang="en-US" dirty="0" err="1"/>
              <a:t>circleci</a:t>
            </a:r>
            <a:r>
              <a:rPr lang="en-US" dirty="0"/>
              <a:t>, </a:t>
            </a:r>
            <a:r>
              <a:rPr lang="en-US" dirty="0" err="1"/>
              <a:t>bitrise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F03F0-D7A8-439E-9F99-474A376EF1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17034493" cy="4522264"/>
          </a:xfrm>
        </p:spPr>
        <p:txBody>
          <a:bodyPr/>
          <a:lstStyle/>
          <a:p>
            <a:r>
              <a:rPr lang="en-ID" dirty="0"/>
              <a:t>GitHub Actions automates tests/builds with YAML workflows.</a:t>
            </a:r>
          </a:p>
          <a:p>
            <a:r>
              <a:rPr lang="en-ID" dirty="0" err="1"/>
              <a:t>CircleCI</a:t>
            </a:r>
            <a:r>
              <a:rPr lang="en-ID" dirty="0"/>
              <a:t> offers scalable pipelines with caching.</a:t>
            </a:r>
          </a:p>
          <a:p>
            <a:r>
              <a:rPr lang="en-ID" dirty="0" err="1"/>
              <a:t>Bitrise</a:t>
            </a:r>
            <a:r>
              <a:rPr lang="en-ID" dirty="0"/>
              <a:t> specializes in mobile CI/CD (iOS &amp; Android).</a:t>
            </a:r>
          </a:p>
          <a:p>
            <a:r>
              <a:rPr lang="en-ID" dirty="0"/>
              <a:t>Real-life: Triggering automatic deployments on code push.</a:t>
            </a:r>
          </a:p>
        </p:txBody>
      </p:sp>
    </p:spTree>
    <p:extLst>
      <p:ext uri="{BB962C8B-B14F-4D97-AF65-F5344CB8AC3E}">
        <p14:creationId xmlns:p14="http://schemas.microsoft.com/office/powerpoint/2010/main" val="212982848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C857-0232-4370-A116-49AF8C9E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 optimization and packaging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F03F0-D7A8-439E-9F99-474A376EF1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17034493" cy="4522264"/>
          </a:xfrm>
        </p:spPr>
        <p:txBody>
          <a:bodyPr/>
          <a:lstStyle/>
          <a:p>
            <a:r>
              <a:rPr lang="en-ID" dirty="0"/>
              <a:t>Optimize bundles using Webpack (tree shaking, minification).</a:t>
            </a:r>
          </a:p>
          <a:p>
            <a:r>
              <a:rPr lang="en-ID" dirty="0"/>
              <a:t>Mobile builds: reduce APK/IPA size, compress images.</a:t>
            </a:r>
          </a:p>
          <a:p>
            <a:r>
              <a:rPr lang="en-ID" dirty="0"/>
              <a:t>Lazy loading and code splitting for better load times.</a:t>
            </a:r>
          </a:p>
          <a:p>
            <a:r>
              <a:rPr lang="en-ID" dirty="0"/>
              <a:t>Example: Reduce React app bundle from 3MB to 800KB.</a:t>
            </a:r>
          </a:p>
        </p:txBody>
      </p:sp>
    </p:spTree>
    <p:extLst>
      <p:ext uri="{BB962C8B-B14F-4D97-AF65-F5344CB8AC3E}">
        <p14:creationId xmlns:p14="http://schemas.microsoft.com/office/powerpoint/2010/main" val="71783401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C857-0232-4370-A116-49AF8C9E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 store deployment (</a:t>
            </a:r>
            <a:r>
              <a:rPr lang="en-US" dirty="0" err="1"/>
              <a:t>ios</a:t>
            </a:r>
            <a:r>
              <a:rPr lang="en-US" dirty="0"/>
              <a:t> and android guidelines)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F03F0-D7A8-439E-9F99-474A376EF1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17034493" cy="4522264"/>
          </a:xfrm>
        </p:spPr>
        <p:txBody>
          <a:bodyPr/>
          <a:lstStyle/>
          <a:p>
            <a:r>
              <a:rPr lang="en-US" dirty="0"/>
              <a:t>Android: Use Google Play Console for AAB/APK upload.</a:t>
            </a:r>
          </a:p>
          <a:p>
            <a:r>
              <a:rPr lang="en-US" dirty="0"/>
              <a:t>iOS: Use </a:t>
            </a:r>
            <a:r>
              <a:rPr lang="en-US" dirty="0" err="1"/>
              <a:t>Xcode</a:t>
            </a:r>
            <a:r>
              <a:rPr lang="en-US" dirty="0"/>
              <a:t> and App Store Connect for submission.</a:t>
            </a:r>
          </a:p>
          <a:p>
            <a:r>
              <a:rPr lang="en-US" dirty="0"/>
              <a:t>Guidelines: content policies, required screenshots, testing.</a:t>
            </a:r>
          </a:p>
          <a:p>
            <a:r>
              <a:rPr lang="en-US" dirty="0"/>
              <a:t>Real-life: App rejection due to missing privacy policy.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5541640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C857-0232-4370-A116-49AF8C9E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app deployment (</a:t>
            </a:r>
            <a:r>
              <a:rPr lang="en-US" dirty="0" err="1"/>
              <a:t>vercel</a:t>
            </a:r>
            <a:r>
              <a:rPr lang="en-US" dirty="0"/>
              <a:t>, </a:t>
            </a:r>
            <a:r>
              <a:rPr lang="en-US" dirty="0" err="1"/>
              <a:t>netlify</a:t>
            </a:r>
            <a:r>
              <a:rPr lang="en-US" dirty="0"/>
              <a:t>, </a:t>
            </a:r>
            <a:r>
              <a:rPr lang="en-US" dirty="0" err="1"/>
              <a:t>heroku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F03F0-D7A8-439E-9F99-474A376EF1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17034493" cy="4522264"/>
          </a:xfrm>
        </p:spPr>
        <p:txBody>
          <a:bodyPr/>
          <a:lstStyle/>
          <a:p>
            <a:r>
              <a:rPr lang="en-ID" dirty="0" err="1"/>
              <a:t>Vercel</a:t>
            </a:r>
            <a:r>
              <a:rPr lang="en-ID" dirty="0"/>
              <a:t>: Best for frontend frameworks (e.g., Next.js).</a:t>
            </a:r>
          </a:p>
          <a:p>
            <a:r>
              <a:rPr lang="en-ID" dirty="0"/>
              <a:t>Netlify: Static hosting, form support, preview URLs.</a:t>
            </a:r>
          </a:p>
          <a:p>
            <a:r>
              <a:rPr lang="en-ID" dirty="0"/>
              <a:t>Heroku: PaaS for Node.js/Express backends.</a:t>
            </a:r>
          </a:p>
          <a:p>
            <a:r>
              <a:rPr lang="en-ID" dirty="0"/>
              <a:t>Example: Frontend hosted on </a:t>
            </a:r>
            <a:r>
              <a:rPr lang="en-ID" dirty="0" err="1"/>
              <a:t>Vercel</a:t>
            </a:r>
            <a:r>
              <a:rPr lang="en-ID" dirty="0"/>
              <a:t>, backend on Heroku.</a:t>
            </a:r>
          </a:p>
        </p:txBody>
      </p:sp>
    </p:spTree>
    <p:extLst>
      <p:ext uri="{BB962C8B-B14F-4D97-AF65-F5344CB8AC3E}">
        <p14:creationId xmlns:p14="http://schemas.microsoft.com/office/powerpoint/2010/main" val="192375538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C857-0232-4370-A116-49AF8C9E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Maintenance, monitoring and analytics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F03F0-D7A8-439E-9F99-474A376EF1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17034493" cy="4522264"/>
          </a:xfrm>
        </p:spPr>
        <p:txBody>
          <a:bodyPr/>
          <a:lstStyle/>
          <a:p>
            <a:r>
              <a:rPr lang="en-ID" dirty="0"/>
              <a:t>Use Sentry or Firebase </a:t>
            </a:r>
            <a:r>
              <a:rPr lang="en-ID" dirty="0" err="1"/>
              <a:t>Crashlytics</a:t>
            </a:r>
            <a:r>
              <a:rPr lang="en-ID" dirty="0"/>
              <a:t> for error tracking.</a:t>
            </a:r>
          </a:p>
          <a:p>
            <a:r>
              <a:rPr lang="en-ID" dirty="0"/>
              <a:t>Logs: monitor logs with timestamps, error levels.</a:t>
            </a:r>
          </a:p>
          <a:p>
            <a:r>
              <a:rPr lang="en-ID" dirty="0"/>
              <a:t>Analytics: Google Analytics or </a:t>
            </a:r>
            <a:r>
              <a:rPr lang="en-ID" dirty="0" err="1"/>
              <a:t>Mixpanel</a:t>
            </a:r>
            <a:r>
              <a:rPr lang="en-ID" dirty="0"/>
              <a:t> for user flows.</a:t>
            </a:r>
          </a:p>
          <a:p>
            <a:r>
              <a:rPr lang="en-ID" dirty="0"/>
              <a:t>Example: Identify and fix crashing bug from real-time alerts.</a:t>
            </a:r>
          </a:p>
        </p:txBody>
      </p:sp>
    </p:spTree>
    <p:extLst>
      <p:ext uri="{BB962C8B-B14F-4D97-AF65-F5344CB8AC3E}">
        <p14:creationId xmlns:p14="http://schemas.microsoft.com/office/powerpoint/2010/main" val="344778767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FF134-6B43-4848-A56C-1DCFA6C7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94BA2-6BB7-4B84-B394-8B0EB24B11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17034493" cy="4522264"/>
          </a:xfrm>
        </p:spPr>
        <p:txBody>
          <a:bodyPr/>
          <a:lstStyle/>
          <a:p>
            <a:r>
              <a:rPr lang="en-US" dirty="0"/>
              <a:t>CI/CD ensures smooth, repeatable deployments.</a:t>
            </a:r>
          </a:p>
          <a:p>
            <a:r>
              <a:rPr lang="en-US" dirty="0"/>
              <a:t>Optimized builds improve UX and performance.</a:t>
            </a:r>
          </a:p>
          <a:p>
            <a:r>
              <a:rPr lang="en-US" dirty="0"/>
              <a:t>Publishing requires adhering to store policies.</a:t>
            </a:r>
          </a:p>
          <a:p>
            <a:r>
              <a:rPr lang="en-US"/>
              <a:t>Monitor </a:t>
            </a:r>
            <a:r>
              <a:rPr lang="en-US" dirty="0"/>
              <a:t>and update regularly for stable app lifecycle.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3136553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8B11-B315-4BD2-B477-ED4947D6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EF4B3-CA30-4FD2-9AF2-2D23584E21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17034493" cy="6808800"/>
          </a:xfrm>
        </p:spPr>
        <p:txBody>
          <a:bodyPr>
            <a:normAutofit/>
          </a:bodyPr>
          <a:lstStyle/>
          <a:p>
            <a:r>
              <a:rPr lang="en-ID" dirty="0"/>
              <a:t>Daniel </a:t>
            </a:r>
            <a:r>
              <a:rPr lang="en-ID" dirty="0" err="1"/>
              <a:t>Bugl</a:t>
            </a:r>
            <a:r>
              <a:rPr lang="en-ID" dirty="0"/>
              <a:t>.(2024).Modern Full-Stack React Projects: Build, maintain, and deploy modern web apps using MongoDB, Express, React, and Node.js, chapter 19</a:t>
            </a:r>
          </a:p>
          <a:p>
            <a:r>
              <a:rPr lang="en-ID" dirty="0" err="1"/>
              <a:t>Moataz</a:t>
            </a:r>
            <a:r>
              <a:rPr lang="en-ID" dirty="0"/>
              <a:t> Nabil.(2023).Mobile DevOps Playbook: A practical guide for delivering high-quality mobile applications like a pro, chapter 7</a:t>
            </a:r>
          </a:p>
          <a:p>
            <a:r>
              <a:rPr lang="en-ID" dirty="0"/>
              <a:t>https://www.youtube.com/watch?v=BDIOx1QySQs</a:t>
            </a:r>
          </a:p>
          <a:p>
            <a:r>
              <a:rPr lang="en-ID" dirty="0"/>
              <a:t>https://vercel.com/docs/deployments</a:t>
            </a:r>
          </a:p>
          <a:p>
            <a:endParaRPr lang="en-ID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9678695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8A765304-81F0-7E4E-8EF9-D1908F848890}" vid="{27FD703C-8EEE-4947-8F2C-FF74B997565B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F5F1981D0D0A4BA0E31280C031DE91" ma:contentTypeVersion="12" ma:contentTypeDescription="Create a new document." ma:contentTypeScope="" ma:versionID="87a784c54b49778410b595b9a0f6798d">
  <xsd:schema xmlns:xsd="http://www.w3.org/2001/XMLSchema" xmlns:xs="http://www.w3.org/2001/XMLSchema" xmlns:p="http://schemas.microsoft.com/office/2006/metadata/properties" xmlns:ns2="42a42ff1-eb35-48cd-9475-cbe267404503" xmlns:ns3="366074bd-4c21-4e2f-93ac-ee1e806473e2" targetNamespace="http://schemas.microsoft.com/office/2006/metadata/properties" ma:root="true" ma:fieldsID="a78ab72074a3964f95cbb15c2b740eca" ns2:_="" ns3:_="">
    <xsd:import namespace="42a42ff1-eb35-48cd-9475-cbe267404503"/>
    <xsd:import namespace="366074bd-4c21-4e2f-93ac-ee1e806473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a42ff1-eb35-48cd-9475-cbe2674045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074bd-4c21-4e2f-93ac-ee1e806473e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8ac9598-4fa5-43ff-9ee7-a40b922a1dd4}" ma:internalName="TaxCatchAll" ma:showField="CatchAllData" ma:web="366074bd-4c21-4e2f-93ac-ee1e806473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6074bd-4c21-4e2f-93ac-ee1e806473e2" xsi:nil="true"/>
    <lcf76f155ced4ddcb4097134ff3c332f xmlns="42a42ff1-eb35-48cd-9475-cbe26740450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8737398-5CBE-4070-A543-EC89672B59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a42ff1-eb35-48cd-9475-cbe267404503"/>
    <ds:schemaRef ds:uri="366074bd-4c21-4e2f-93ac-ee1e806473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1E0566-AB63-436C-A202-0580950958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C2FE29-D27B-463A-BD8F-FE556E43EE27}">
  <ds:schemaRefs>
    <ds:schemaRef ds:uri="42a42ff1-eb35-48cd-9475-cbe267404503"/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366074bd-4c21-4e2f-93ac-ee1e806473e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150</TotalTime>
  <Words>489</Words>
  <Application>Microsoft Office PowerPoint</Application>
  <PresentationFormat>Custom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Open Sans Light</vt:lpstr>
      <vt:lpstr>Arial</vt:lpstr>
      <vt:lpstr>Open Sans ExtraBold</vt:lpstr>
      <vt:lpstr>Open Sans Semibold</vt:lpstr>
      <vt:lpstr>OCRB</vt:lpstr>
      <vt:lpstr>21_BasicWhite</vt:lpstr>
      <vt:lpstr>SPECIALIZED PLATFORM DEVELOPMENT</vt:lpstr>
      <vt:lpstr>Learning outcome</vt:lpstr>
      <vt:lpstr>outline</vt:lpstr>
      <vt:lpstr>Introduction</vt:lpstr>
      <vt:lpstr>Ci/cd for web and mobile (github actions, circleci, bitrise)</vt:lpstr>
      <vt:lpstr>Build optimization and packaging</vt:lpstr>
      <vt:lpstr>App store deployment (ios and android guidelines)</vt:lpstr>
      <vt:lpstr>Web app deployment (vercel, netlify, heroku)</vt:lpstr>
      <vt:lpstr>Maintenance, monitoring and analytics</vt:lpstr>
      <vt:lpstr>summary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SPECIALIZED PLATFORM DEVELOPMENT</dc:title>
  <dc:creator>Pualam Dipa Nusantara, S.Kom., M.Kom</dc:creator>
  <cp:lastModifiedBy>Helena Agustin Putri A</cp:lastModifiedBy>
  <cp:revision>30</cp:revision>
  <dcterms:created xsi:type="dcterms:W3CDTF">2025-04-08T03:50:13Z</dcterms:created>
  <dcterms:modified xsi:type="dcterms:W3CDTF">2025-10-15T03:26:06Z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0x010100EDF5F1981D0D0A4BA0E31280C031DE91</vt:lpwstr>
  </property>
  <property fmtid="{D5CDD505-2E9C-101B-9397-08002B2CF9AE}" pid="3" name="MediaServiceImageTags">
    <vt:lpwstr/>
  </property>
  <property fmtid="{D5CDD505-2E9C-101B-9397-08002B2CF9AE}" pid="4" name="Order">
    <vt:r8>15128500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TemplateUrl">
    <vt:lpwstr/>
  </property>
  <property fmtid="{D5CDD505-2E9C-101B-9397-08002B2CF9AE}" pid="10" name="ComplianceAssetId">
    <vt:lpwstr/>
  </property>
</Properties>
</file>